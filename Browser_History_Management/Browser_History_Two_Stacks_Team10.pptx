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2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75" d="100"/>
          <a:sy n="75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" name="Text box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" name="Text box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0" charset="0"/>
                <a:ea typeface="等线" pitchFamily="0" charset="0"/>
                <a:cs typeface="Calibri" pitchFamily="0" charset="0"/>
              </a:rPr>
              <a:t>10/9/2026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" name="Object"/>
          <p:cNvSpPr>
            <a:spLocks noGrp="1" noChangeAspect="1"/>
          </p:cNvSpPr>
          <p:nvPr>
            <p:ph type="sldImg" idx="2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6" name="Text box"/>
          <p:cNvSpPr>
            <a:spLocks noGrp="1"/>
          </p:cNvSpPr>
          <p:nvPr>
            <p:ph type="body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/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999277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0" charset="0"/>
        <a:ea typeface="等线" pitchFamily="0" charset="0"/>
        <a:cs typeface="Calibri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9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0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1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796878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9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0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1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882771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0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1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2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16949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9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0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01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89892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8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19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0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166913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4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43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994608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5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53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073175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6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63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06138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7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73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977149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1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82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83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31628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4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95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96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375998"/>
      </p:ext>
    </p:extLst>
  </p:cSld>
  <p:clrMapOvr>
    <a:masterClrMapping/>
  </p:clrMapOvr>
</p:notes>
</file>

<file path=ppt/notesSlides/notesSlide1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12</a:t>
            </a:fld>
            <a:endParaRPr lang="zh-CN" altLang="en-US" sz="1200"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3" name="Object"/>
          <p:cNvSpPr>
            <a:spLocks noGrp="1" noChangeAspect="1"/>
          </p:cNvSpPr>
          <p:nvPr>
            <p:ph type="sldImg"/>
          </p:nvPr>
        </p:nvSpPr>
        <p:spPr>
          <a:xfrm rot="0">
            <a:off x="685800" y="1143000"/>
            <a:ext cx="5486400" cy="308610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204" name="Text box"/>
          <p:cNvSpPr>
            <a:spLocks noGrp="1"/>
          </p:cNvSpPr>
          <p:nvPr>
            <p:ph type="body" idx="1"/>
          </p:nvPr>
        </p:nvSpPr>
        <p:spPr>
          <a:xfrm rot="0">
            <a:off x="685800" y="4400550"/>
            <a:ext cx="5486400" cy="36004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205" name="Text box"/>
          <p:cNvSpPr>
            <a:spLocks noGrp="1"/>
          </p:cNvSpPr>
          <p:nvPr>
            <p:ph type="sldNum" idx="10"/>
          </p:nvPr>
        </p:nvSpPr>
        <p:spPr>
          <a:xfrm rot="0">
            <a:off x="3884613" y="8685213"/>
            <a:ext cx="2971800" cy="4587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Droid Sans" pitchFamily="0" charset="0"/>
                <a:ea typeface="宋体" pitchFamily="0" charset="0"/>
                <a:cs typeface="Lucida Sans" pitchFamily="0" charset="0"/>
              </a:r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930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86775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537379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088693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563607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07884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219881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00284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66440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809441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141960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659148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/>
          <p:cNvSpPr>
            <a:spLocks/>
          </p:cNvSpPr>
          <p:nvPr/>
        </p:nvSpPr>
        <p:spPr>
          <a:xfrm rot="0">
            <a:off x="0" y="0"/>
            <a:ext cx="9144000" cy="5143500"/>
          </a:xfrm>
          <a:prstGeom prst="rect"/>
          <a:solidFill>
            <a:schemeClr val="tx1"/>
          </a:solidFill>
          <a:ln w="12700" cmpd="sng" cap="flat">
            <a:noFill/>
            <a:prstDash val="solid"/>
            <a:miter/>
          </a:ln>
        </p:spPr>
      </p:sp>
      <p:sp>
        <p:nvSpPr>
          <p:cNvPr id="10" name="Text box"/>
          <p:cNvSpPr>
            <a:spLocks noGrp="1"/>
          </p:cNvSpPr>
          <p:nvPr>
            <p:ph type="title" idx="101"/>
          </p:nvPr>
        </p:nvSpPr>
        <p:spPr>
          <a:xfrm rot="0">
            <a:off x="548640" y="1097280"/>
            <a:ext cx="4846320" cy="1828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/>
            <a:endParaRPr lang="zh-CN" altLang="en-US" sz="3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628945"/>
      </p:ext>
    </p:extLst>
  </p:cSld>
  <p:clrMapOvr>
    <a:masterClrMapping/>
  </p:clrMapOvr>
  <p:hf sldNum="0"/>
</p:sldLayout>
</file>

<file path=ppt/slideLayouts/slideLayout13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/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33" name="Rectangle"/>
          <p:cNvSpPr>
            <a:spLocks/>
          </p:cNvSpPr>
          <p:nvPr/>
        </p:nvSpPr>
        <p:spPr>
          <a:xfrm rot="0">
            <a:off x="457200" y="4846320"/>
            <a:ext cx="7132320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Browser History Management Using Two Stacks • Data Structures &amp; Algorithms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4" name="Text box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00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193374"/>
      </p:ext>
    </p:extLst>
  </p:cSld>
  <p:clrMapOvr>
    <a:masterClrMapping/>
  </p:clrMapOvr>
  <p:hf sldNum="0"/>
</p:sldLayout>
</file>

<file path=ppt/slideLayouts/slideLayout14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"/>
          <p:cNvSpPr>
            <a:spLocks/>
          </p:cNvSpPr>
          <p:nvPr/>
        </p:nvSpPr>
        <p:spPr>
          <a:xfrm rot="0">
            <a:off x="0" y="0"/>
            <a:ext cx="9144000" cy="5143500"/>
          </a:xfrm>
          <a:prstGeom prst="rect"/>
          <a:solidFill>
            <a:schemeClr val="tx1"/>
          </a:solidFill>
          <a:ln w="12700" cmpd="sng" cap="flat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699695345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&lt;#&gt;</a:t>
            </a:fld>
            <a:endParaRPr lang="zh-CN" altLang="en-US" sz="100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91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mbria" pitchFamily="0" charset="0"/>
          <a:ea typeface="等线 Light" pitchFamily="0" charset="0"/>
          <a:cs typeface="Cambria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等线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"/>
          <p:cNvSpPr>
            <a:spLocks noGrp="1"/>
          </p:cNvSpPr>
          <p:nvPr>
            <p:ph type="title" idx="101"/>
          </p:nvPr>
        </p:nvSpPr>
        <p:spPr>
          <a:xfrm rot="0">
            <a:off x="548640" y="1097280"/>
            <a:ext cx="4846320" cy="1828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bg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Browser History Management Using  Stacks</a:t>
            </a:r>
            <a:endParaRPr lang="zh-CN" altLang="en-US" sz="3600" b="1" i="0" u="none" strike="noStrike" kern="1200" cap="none" spc="0" baseline="0">
              <a:solidFill>
                <a:schemeClr val="bg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2" name="Rectangle"/>
          <p:cNvSpPr>
            <a:spLocks/>
          </p:cNvSpPr>
          <p:nvPr/>
        </p:nvSpPr>
        <p:spPr>
          <a:xfrm rot="0">
            <a:off x="548640" y="3017519"/>
            <a:ext cx="484632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accent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DSA Mini Project • C Programming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" name="Rounded rectangle"/>
          <p:cNvSpPr>
            <a:spLocks/>
          </p:cNvSpPr>
          <p:nvPr/>
        </p:nvSpPr>
        <p:spPr>
          <a:xfrm rot="0">
            <a:off x="5669280" y="548640"/>
            <a:ext cx="3017519" cy="4023359"/>
          </a:xfrm>
          <a:prstGeom prst="roundRect">
            <a:avLst>
              <a:gd name="adj" fmla="val 2425"/>
            </a:avLst>
          </a:prstGeom>
          <a:solidFill>
            <a:schemeClr val="tx2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7" name="Rectangle"/>
          <p:cNvSpPr>
            <a:spLocks/>
          </p:cNvSpPr>
          <p:nvPr/>
        </p:nvSpPr>
        <p:spPr>
          <a:xfrm rot="0">
            <a:off x="5897880" y="731520"/>
            <a:ext cx="256031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accent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TEAM NO: 10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" name="Rectangle"/>
          <p:cNvSpPr>
            <a:spLocks/>
          </p:cNvSpPr>
          <p:nvPr/>
        </p:nvSpPr>
        <p:spPr>
          <a:xfrm rot="0">
            <a:off x="5897880" y="1325880"/>
            <a:ext cx="2560319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bg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TEAM MEMBERS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" name="Rectangle"/>
          <p:cNvSpPr>
            <a:spLocks/>
          </p:cNvSpPr>
          <p:nvPr/>
        </p:nvSpPr>
        <p:spPr>
          <a:xfrm rot="0">
            <a:off x="5897880" y="1691639"/>
            <a:ext cx="25603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Rajasri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0" name="Rectangle"/>
          <p:cNvSpPr>
            <a:spLocks/>
          </p:cNvSpPr>
          <p:nvPr/>
        </p:nvSpPr>
        <p:spPr>
          <a:xfrm rot="0">
            <a:off x="5897880" y="1947672"/>
            <a:ext cx="256031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A25126510002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1" name="Rectangle"/>
          <p:cNvSpPr>
            <a:spLocks/>
          </p:cNvSpPr>
          <p:nvPr/>
        </p:nvSpPr>
        <p:spPr>
          <a:xfrm rot="0">
            <a:off x="5897880" y="2258568"/>
            <a:ext cx="25603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Viveka Vardhini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2" name="Rectangle"/>
          <p:cNvSpPr>
            <a:spLocks/>
          </p:cNvSpPr>
          <p:nvPr/>
        </p:nvSpPr>
        <p:spPr>
          <a:xfrm rot="0">
            <a:off x="5897880" y="2514600"/>
            <a:ext cx="256031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A25126510005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3" name="Rectangle"/>
          <p:cNvSpPr>
            <a:spLocks/>
          </p:cNvSpPr>
          <p:nvPr/>
        </p:nvSpPr>
        <p:spPr>
          <a:xfrm rot="0">
            <a:off x="5897880" y="2825496"/>
            <a:ext cx="25603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Princy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4" name="Rectangle"/>
          <p:cNvSpPr>
            <a:spLocks/>
          </p:cNvSpPr>
          <p:nvPr/>
        </p:nvSpPr>
        <p:spPr>
          <a:xfrm rot="0">
            <a:off x="5897880" y="3081528"/>
            <a:ext cx="256031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A25126510026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5" name="Rectangle"/>
          <p:cNvSpPr>
            <a:spLocks/>
          </p:cNvSpPr>
          <p:nvPr/>
        </p:nvSpPr>
        <p:spPr>
          <a:xfrm rot="0">
            <a:off x="5897880" y="3392424"/>
            <a:ext cx="25603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Hansika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6" name="Rectangle"/>
          <p:cNvSpPr>
            <a:spLocks/>
          </p:cNvSpPr>
          <p:nvPr/>
        </p:nvSpPr>
        <p:spPr>
          <a:xfrm rot="0">
            <a:off x="5897880" y="3648456"/>
            <a:ext cx="256031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A25126510048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7" name="Rectangle"/>
          <p:cNvSpPr>
            <a:spLocks/>
          </p:cNvSpPr>
          <p:nvPr/>
        </p:nvSpPr>
        <p:spPr>
          <a:xfrm rot="0">
            <a:off x="5897880" y="3959352"/>
            <a:ext cx="2560319" cy="2743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Darshini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28" name="Rectangle"/>
          <p:cNvSpPr>
            <a:spLocks/>
          </p:cNvSpPr>
          <p:nvPr/>
        </p:nvSpPr>
        <p:spPr>
          <a:xfrm rot="0">
            <a:off x="5897880" y="4215384"/>
            <a:ext cx="2560319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A25126510049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692015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Introduction &amp; Objectives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36" name="Rounded rectangle"/>
          <p:cNvSpPr>
            <a:spLocks/>
          </p:cNvSpPr>
          <p:nvPr/>
        </p:nvSpPr>
        <p:spPr>
          <a:xfrm rot="0">
            <a:off x="457200" y="1051560"/>
            <a:ext cx="4023359" cy="2423160"/>
          </a:xfrm>
          <a:prstGeom prst="roundRect">
            <a:avLst>
              <a:gd name="adj" fmla="val 3018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37" name="Rectangle"/>
          <p:cNvSpPr>
            <a:spLocks/>
          </p:cNvSpPr>
          <p:nvPr/>
        </p:nvSpPr>
        <p:spPr>
          <a:xfrm rot="0">
            <a:off x="640080" y="1170432"/>
            <a:ext cx="365760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INTRODUCTION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8" name="Rectangle"/>
          <p:cNvSpPr>
            <a:spLocks/>
          </p:cNvSpPr>
          <p:nvPr/>
        </p:nvSpPr>
        <p:spPr>
          <a:xfrm rot="0">
            <a:off x="640080" y="1481328"/>
            <a:ext cx="3657600" cy="1920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The Browser History Manager is a C application that uses two linked-list stacks to simulate Back and Forward navigation. The current page is stored separately, while the stacks maintain pages available in each direction.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39" name="Rounded rectangle"/>
          <p:cNvSpPr>
            <a:spLocks/>
          </p:cNvSpPr>
          <p:nvPr/>
        </p:nvSpPr>
        <p:spPr>
          <a:xfrm rot="0">
            <a:off x="4663440" y="1051560"/>
            <a:ext cx="4023359" cy="2423160"/>
          </a:xfrm>
          <a:prstGeom prst="roundRect">
            <a:avLst>
              <a:gd name="adj" fmla="val 3018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40" name="Rectangle"/>
          <p:cNvSpPr>
            <a:spLocks/>
          </p:cNvSpPr>
          <p:nvPr/>
        </p:nvSpPr>
        <p:spPr>
          <a:xfrm rot="0">
            <a:off x="4846320" y="1170432"/>
            <a:ext cx="3657599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OBJECTIVES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1" name="Rectangle"/>
          <p:cNvSpPr>
            <a:spLocks/>
          </p:cNvSpPr>
          <p:nvPr/>
        </p:nvSpPr>
        <p:spPr>
          <a:xfrm rot="0">
            <a:off x="4846320" y="1481328"/>
            <a:ext cx="3657599" cy="19202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Implement Stack using linked-list nodes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Support Visit, Back, and Forward operations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Maintain current, back, and forward page states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Handle dynamic memory safely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2" name="Rectangle"/>
          <p:cNvSpPr>
            <a:spLocks/>
          </p:cNvSpPr>
          <p:nvPr/>
        </p:nvSpPr>
        <p:spPr>
          <a:xfrm rot="0">
            <a:off x="457200" y="3657600"/>
            <a:ext cx="457200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CORE DATA STRUCTURE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3" name="Rounded rectangle"/>
          <p:cNvSpPr>
            <a:spLocks/>
          </p:cNvSpPr>
          <p:nvPr/>
        </p:nvSpPr>
        <p:spPr>
          <a:xfrm rot="0">
            <a:off x="457200" y="4005072"/>
            <a:ext cx="2377440" cy="566928"/>
          </a:xfrm>
          <a:prstGeom prst="roundRect">
            <a:avLst>
              <a:gd name="adj" fmla="val 19356"/>
            </a:avLst>
          </a:prstGeom>
          <a:solidFill>
            <a:schemeClr val="accent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10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BACK STACK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4" name="Rounded rectangle"/>
          <p:cNvSpPr>
            <a:spLocks/>
          </p:cNvSpPr>
          <p:nvPr/>
        </p:nvSpPr>
        <p:spPr>
          <a:xfrm rot="0">
            <a:off x="3383279" y="4005072"/>
            <a:ext cx="2377440" cy="566928"/>
          </a:xfrm>
          <a:prstGeom prst="roundRect">
            <a:avLst>
              <a:gd name="adj" fmla="val 19356"/>
            </a:avLst>
          </a:prstGeom>
          <a:solidFill>
            <a:schemeClr val="accent1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10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CURRENT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5" name="Rounded rectangle"/>
          <p:cNvSpPr>
            <a:spLocks/>
          </p:cNvSpPr>
          <p:nvPr/>
        </p:nvSpPr>
        <p:spPr>
          <a:xfrm rot="0">
            <a:off x="6309360" y="4005072"/>
            <a:ext cx="2377440" cy="566928"/>
          </a:xfrm>
          <a:prstGeom prst="roundRect">
            <a:avLst>
              <a:gd name="adj" fmla="val 19356"/>
            </a:avLst>
          </a:prstGeom>
          <a:solidFill>
            <a:schemeClr val="accent3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0" cap="none" spc="10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FORWARD STACK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46" name="Straight line"/>
          <p:cNvSpPr>
            <a:spLocks/>
          </p:cNvSpPr>
          <p:nvPr/>
        </p:nvSpPr>
        <p:spPr>
          <a:xfrm rot="0">
            <a:off x="2880360" y="4288536"/>
            <a:ext cx="457200" cy="0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47" name="Straight line"/>
          <p:cNvSpPr>
            <a:spLocks/>
          </p:cNvSpPr>
          <p:nvPr/>
        </p:nvSpPr>
        <p:spPr>
          <a:xfrm rot="0">
            <a:off x="5806440" y="4288536"/>
            <a:ext cx="457200" cy="0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48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498058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Two-Stack Browser History Algorithm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53" name="Rectangle"/>
          <p:cNvSpPr>
            <a:spLocks/>
          </p:cNvSpPr>
          <p:nvPr/>
        </p:nvSpPr>
        <p:spPr>
          <a:xfrm rot="0">
            <a:off x="457200" y="1051560"/>
            <a:ext cx="457200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DEFINITION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4" name="Rectangle"/>
          <p:cNvSpPr>
            <a:spLocks/>
          </p:cNvSpPr>
          <p:nvPr/>
        </p:nvSpPr>
        <p:spPr>
          <a:xfrm rot="0">
            <a:off x="457200" y="1344168"/>
            <a:ext cx="4572000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Two stacks are used to model browser navigation. The Back stack stores previously visited pages, while the Forward stack stores pages available after going back.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5" name="Rectangle"/>
          <p:cNvSpPr>
            <a:spLocks/>
          </p:cNvSpPr>
          <p:nvPr/>
        </p:nvSpPr>
        <p:spPr>
          <a:xfrm rot="0">
            <a:off x="457200" y="2331720"/>
            <a:ext cx="457200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WORKING PRINCIPLE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6" name="Rectangle"/>
          <p:cNvSpPr>
            <a:spLocks/>
          </p:cNvSpPr>
          <p:nvPr/>
        </p:nvSpPr>
        <p:spPr>
          <a:xfrm rot="0">
            <a:off x="457200" y="2624328"/>
            <a:ext cx="4572000" cy="1828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Visit → push current page to Back; clear Forward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Back → push current to Forward; pop Back into current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Forward → push current to Back; pop Forward into current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If the required stack is empty, navigation is unavailable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57" name="Rectangle"/>
          <p:cNvSpPr>
            <a:spLocks/>
          </p:cNvSpPr>
          <p:nvPr/>
        </p:nvSpPr>
        <p:spPr>
          <a:xfrm rot="0">
            <a:off x="5303520" y="1051560"/>
            <a:ext cx="3383279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NAVIGATION EXAMPLE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58" name="Sheet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5303520" y="1344168"/>
          <a:ext cx="3383279" cy="91440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960107"/>
                <a:gridCol w="822947"/>
                <a:gridCol w="777227"/>
                <a:gridCol w="822947"/>
              </a:tblGrid>
              <a:tr h="29260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bg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BACK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E8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bg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CURRENT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bg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FORWARD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52E0"/>
                    </a:solidFill>
                  </a:tcPr>
                </a:tc>
              </a:tr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2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Visit A → B → C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B → A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C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—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457193">
                <a:tc>
                  <a:txBody>
                    <a:bodyPr/>
                    <a:lstStyle/>
                    <a:p>
                      <a:pPr marL="0" indent="0" algn="l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2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Press BACK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A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B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C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45720" marT="45720" marR="45720" marB="45720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</a:tbl>
          </a:graphicData>
        </a:graphic>
      </p:graphicFrame>
      <p:sp>
        <p:nvSpPr>
          <p:cNvPr id="59" name="Rectangle"/>
          <p:cNvSpPr>
            <a:spLocks/>
          </p:cNvSpPr>
          <p:nvPr/>
        </p:nvSpPr>
        <p:spPr>
          <a:xfrm rot="0">
            <a:off x="5303520" y="2697480"/>
            <a:ext cx="3383279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TIME &amp; SPACE COMPLEXITY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0" name="Rounded rectangle"/>
          <p:cNvSpPr>
            <a:spLocks/>
          </p:cNvSpPr>
          <p:nvPr/>
        </p:nvSpPr>
        <p:spPr>
          <a:xfrm rot="0">
            <a:off x="5303520" y="2990088"/>
            <a:ext cx="1645919" cy="566928"/>
          </a:xfrm>
          <a:prstGeom prst="roundRect">
            <a:avLst>
              <a:gd name="adj" fmla="val 12902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61" name="Rectangle"/>
          <p:cNvSpPr>
            <a:spLocks/>
          </p:cNvSpPr>
          <p:nvPr/>
        </p:nvSpPr>
        <p:spPr>
          <a:xfrm rot="0">
            <a:off x="5413248" y="2990088"/>
            <a:ext cx="146304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Visit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O(1)*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2" name="Rounded rectangle"/>
          <p:cNvSpPr>
            <a:spLocks/>
          </p:cNvSpPr>
          <p:nvPr/>
        </p:nvSpPr>
        <p:spPr>
          <a:xfrm rot="0">
            <a:off x="7040880" y="2990088"/>
            <a:ext cx="1645920" cy="566928"/>
          </a:xfrm>
          <a:prstGeom prst="roundRect">
            <a:avLst>
              <a:gd name="adj" fmla="val 12902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63" name="Rectangle"/>
          <p:cNvSpPr>
            <a:spLocks/>
          </p:cNvSpPr>
          <p:nvPr/>
        </p:nvSpPr>
        <p:spPr>
          <a:xfrm rot="0">
            <a:off x="7150608" y="2990088"/>
            <a:ext cx="146304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Back / Forward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O(1)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4" name="Rounded rectangle"/>
          <p:cNvSpPr>
            <a:spLocks/>
          </p:cNvSpPr>
          <p:nvPr/>
        </p:nvSpPr>
        <p:spPr>
          <a:xfrm rot="0">
            <a:off x="5303520" y="3648456"/>
            <a:ext cx="1645919" cy="566928"/>
          </a:xfrm>
          <a:prstGeom prst="roundRect">
            <a:avLst>
              <a:gd name="adj" fmla="val 12902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65" name="Rectangle"/>
          <p:cNvSpPr>
            <a:spLocks/>
          </p:cNvSpPr>
          <p:nvPr/>
        </p:nvSpPr>
        <p:spPr>
          <a:xfrm rot="0">
            <a:off x="5413248" y="3648456"/>
            <a:ext cx="146304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Clear History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O(n)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6" name="Rounded rectangle"/>
          <p:cNvSpPr>
            <a:spLocks/>
          </p:cNvSpPr>
          <p:nvPr/>
        </p:nvSpPr>
        <p:spPr>
          <a:xfrm rot="0">
            <a:off x="7040880" y="3648456"/>
            <a:ext cx="1645920" cy="566928"/>
          </a:xfrm>
          <a:prstGeom prst="roundRect">
            <a:avLst>
              <a:gd name="adj" fmla="val 12902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67" name="Rectangle"/>
          <p:cNvSpPr>
            <a:spLocks/>
          </p:cNvSpPr>
          <p:nvPr/>
        </p:nvSpPr>
        <p:spPr>
          <a:xfrm rot="0">
            <a:off x="7150608" y="3648456"/>
            <a:ext cx="1463040" cy="5669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Space</a:t>
            </a:r>
            <a:endParaRPr lang="en-US" altLang="zh-CN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O(n)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8" name="Rectangle"/>
          <p:cNvSpPr>
            <a:spLocks/>
          </p:cNvSpPr>
          <p:nvPr/>
        </p:nvSpPr>
        <p:spPr>
          <a:xfrm rot="0">
            <a:off x="5303520" y="4315968"/>
            <a:ext cx="338327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* Visit is O(1) when Forward stack is already empty; clearing forward history takes O(n).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69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884244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Program Logic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74" name="Rectangle"/>
          <p:cNvSpPr>
            <a:spLocks/>
          </p:cNvSpPr>
          <p:nvPr/>
        </p:nvSpPr>
        <p:spPr>
          <a:xfrm rot="0">
            <a:off x="457200" y="1051560"/>
            <a:ext cx="438912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STEP-BY-STEP LOGIC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5" name="Rectangle"/>
          <p:cNvSpPr>
            <a:spLocks/>
          </p:cNvSpPr>
          <p:nvPr/>
        </p:nvSpPr>
        <p:spPr>
          <a:xfrm rot="0">
            <a:off x="457200" y="1344168"/>
            <a:ext cx="4434839" cy="33832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Initialize Back stack, Forward stack, current URL, and hasCurrent.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Display menu: Visit | Back | Forward | Current | History | Clear | Exit.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Visit: save current in Back stack, update current, clear Forward stack.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Back: move current to Forward stack, then pop Back into current.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Forward: move current to Back stack, then pop Forward into current.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Show History prints Back → Current → Forward.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Char char="•"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Clear History frees all stack nodes and resets current state.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6" name="Rectangle"/>
          <p:cNvSpPr>
            <a:spLocks/>
          </p:cNvSpPr>
          <p:nvPr/>
        </p:nvSpPr>
        <p:spPr>
          <a:xfrm rot="0">
            <a:off x="5120640" y="1051560"/>
            <a:ext cx="356616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ALGORITHM FLOWCHART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7" name="Rounded rectangle"/>
          <p:cNvSpPr>
            <a:spLocks/>
          </p:cNvSpPr>
          <p:nvPr/>
        </p:nvSpPr>
        <p:spPr>
          <a:xfrm rot="0">
            <a:off x="5760720" y="1371600"/>
            <a:ext cx="1828800" cy="274320"/>
          </a:xfrm>
          <a:prstGeom prst="roundRect">
            <a:avLst>
              <a:gd name="adj" fmla="val 33333"/>
            </a:avLst>
          </a:prstGeom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START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8" name="Rectangle"/>
          <p:cNvSpPr>
            <a:spLocks/>
          </p:cNvSpPr>
          <p:nvPr/>
        </p:nvSpPr>
        <p:spPr>
          <a:xfrm rot="0">
            <a:off x="5760720" y="1792224"/>
            <a:ext cx="1828800" cy="329184"/>
          </a:xfrm>
          <a:prstGeom prst="rect"/>
          <a:solidFill>
            <a:schemeClr val="bg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Initialize stacks &amp; browser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79" name="Rectangle"/>
          <p:cNvSpPr>
            <a:spLocks/>
          </p:cNvSpPr>
          <p:nvPr/>
        </p:nvSpPr>
        <p:spPr>
          <a:xfrm rot="0">
            <a:off x="5760720" y="2267712"/>
            <a:ext cx="1828800" cy="329183"/>
          </a:xfrm>
          <a:prstGeom prst="rect"/>
          <a:solidFill>
            <a:schemeClr val="bg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Read menu choice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0" name="Rectangle"/>
          <p:cNvSpPr>
            <a:spLocks/>
          </p:cNvSpPr>
          <p:nvPr/>
        </p:nvSpPr>
        <p:spPr>
          <a:xfrm rot="0">
            <a:off x="5760720" y="2743200"/>
            <a:ext cx="1828800" cy="329183"/>
          </a:xfrm>
          <a:prstGeom prst="rect"/>
          <a:solidFill>
            <a:schemeClr val="bg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Perform operation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1" name="Diamond"/>
          <p:cNvSpPr>
            <a:spLocks/>
          </p:cNvSpPr>
          <p:nvPr/>
        </p:nvSpPr>
        <p:spPr>
          <a:xfrm rot="0">
            <a:off x="5760720" y="3218688"/>
            <a:ext cx="1828800" cy="548640"/>
          </a:xfrm>
          <a:prstGeom prst="diamond"/>
          <a:solidFill>
            <a:schemeClr val="accent1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Choice = 0?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2" name="Straight line"/>
          <p:cNvSpPr>
            <a:spLocks/>
          </p:cNvSpPr>
          <p:nvPr/>
        </p:nvSpPr>
        <p:spPr>
          <a:xfrm rot="0">
            <a:off x="6675120" y="1645920"/>
            <a:ext cx="0" cy="146303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  <a:tailEnd type="triangle" w="med" len="med"/>
          </a:ln>
        </p:spPr>
      </p:sp>
      <p:sp>
        <p:nvSpPr>
          <p:cNvPr id="83" name="Straight line"/>
          <p:cNvSpPr>
            <a:spLocks/>
          </p:cNvSpPr>
          <p:nvPr/>
        </p:nvSpPr>
        <p:spPr>
          <a:xfrm rot="0">
            <a:off x="6675120" y="2121408"/>
            <a:ext cx="0" cy="146303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  <a:tailEnd type="triangle" w="med" len="med"/>
          </a:ln>
        </p:spPr>
      </p:sp>
      <p:sp>
        <p:nvSpPr>
          <p:cNvPr id="84" name="Straight line"/>
          <p:cNvSpPr>
            <a:spLocks/>
          </p:cNvSpPr>
          <p:nvPr/>
        </p:nvSpPr>
        <p:spPr>
          <a:xfrm rot="0">
            <a:off x="6675120" y="2596896"/>
            <a:ext cx="0" cy="146303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  <a:tailEnd type="triangle" w="med" len="med"/>
          </a:ln>
        </p:spPr>
      </p:sp>
      <p:sp>
        <p:nvSpPr>
          <p:cNvPr id="85" name="Straight line"/>
          <p:cNvSpPr>
            <a:spLocks/>
          </p:cNvSpPr>
          <p:nvPr/>
        </p:nvSpPr>
        <p:spPr>
          <a:xfrm rot="0">
            <a:off x="6675120" y="3072384"/>
            <a:ext cx="0" cy="146303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  <a:tailEnd type="triangle" w="med" len="med"/>
          </a:ln>
        </p:spPr>
      </p:sp>
      <p:sp>
        <p:nvSpPr>
          <p:cNvPr id="86" name="Straight line"/>
          <p:cNvSpPr>
            <a:spLocks/>
          </p:cNvSpPr>
          <p:nvPr/>
        </p:nvSpPr>
        <p:spPr>
          <a:xfrm rot="0">
            <a:off x="7589520" y="3493008"/>
            <a:ext cx="365759" cy="0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  <a:tailEnd type="triangle" w="med" len="med"/>
          </a:ln>
        </p:spPr>
      </p:sp>
      <p:sp>
        <p:nvSpPr>
          <p:cNvPr id="87" name="Rectangle"/>
          <p:cNvSpPr>
            <a:spLocks/>
          </p:cNvSpPr>
          <p:nvPr/>
        </p:nvSpPr>
        <p:spPr>
          <a:xfrm rot="0">
            <a:off x="7589520" y="3273552"/>
            <a:ext cx="36575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YES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8" name="Rounded rectangle"/>
          <p:cNvSpPr>
            <a:spLocks/>
          </p:cNvSpPr>
          <p:nvPr/>
        </p:nvSpPr>
        <p:spPr>
          <a:xfrm rot="0">
            <a:off x="7955280" y="3328416"/>
            <a:ext cx="731519" cy="329183"/>
          </a:xfrm>
          <a:prstGeom prst="roundRect">
            <a:avLst>
              <a:gd name="adj" fmla="val 27777"/>
            </a:avLst>
          </a:prstGeom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EXIT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89" name="Straight line"/>
          <p:cNvSpPr>
            <a:spLocks/>
          </p:cNvSpPr>
          <p:nvPr/>
        </p:nvSpPr>
        <p:spPr>
          <a:xfrm rot="0">
            <a:off x="5440679" y="3493008"/>
            <a:ext cx="320040" cy="0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90" name="Straight line"/>
          <p:cNvSpPr>
            <a:spLocks/>
          </p:cNvSpPr>
          <p:nvPr/>
        </p:nvSpPr>
        <p:spPr>
          <a:xfrm rot="0">
            <a:off x="5440679" y="2432304"/>
            <a:ext cx="0" cy="1060704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91" name="Straight line"/>
          <p:cNvSpPr>
            <a:spLocks/>
          </p:cNvSpPr>
          <p:nvPr/>
        </p:nvSpPr>
        <p:spPr>
          <a:xfrm rot="0">
            <a:off x="5440679" y="2432304"/>
            <a:ext cx="320040" cy="0"/>
          </a:xfrm>
          <a:prstGeom prst="line"/>
          <a:noFill/>
          <a:ln w="19050" cmpd="sng" cap="flat">
            <a:solidFill>
              <a:srgbClr val="1F2A44"/>
            </a:solidFill>
            <a:prstDash val="solid"/>
            <a:round/>
            <a:tailEnd type="triangle" w="med" len="med"/>
          </a:ln>
        </p:spPr>
      </p:sp>
      <p:sp>
        <p:nvSpPr>
          <p:cNvPr id="92" name="Rectangle"/>
          <p:cNvSpPr>
            <a:spLocks/>
          </p:cNvSpPr>
          <p:nvPr/>
        </p:nvSpPr>
        <p:spPr>
          <a:xfrm rot="0">
            <a:off x="5120640" y="2834640"/>
            <a:ext cx="274319" cy="2011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1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NO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3" name="Rectangle"/>
          <p:cNvSpPr>
            <a:spLocks/>
          </p:cNvSpPr>
          <p:nvPr/>
        </p:nvSpPr>
        <p:spPr>
          <a:xfrm rot="0">
            <a:off x="5120640" y="3904488"/>
            <a:ext cx="356616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IMPORTANT VARIABLES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4" name="Rounded rectangle"/>
          <p:cNvSpPr>
            <a:spLocks/>
          </p:cNvSpPr>
          <p:nvPr/>
        </p:nvSpPr>
        <p:spPr>
          <a:xfrm rot="0">
            <a:off x="5120640" y="4187952"/>
            <a:ext cx="1737360" cy="256031"/>
          </a:xfrm>
          <a:prstGeom prst="roundRect">
            <a:avLst>
              <a:gd name="adj" fmla="val 21430"/>
            </a:avLst>
          </a:prstGeom>
          <a:solidFill>
            <a:schemeClr val="bg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backStack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5" name="Rounded rectangle"/>
          <p:cNvSpPr>
            <a:spLocks/>
          </p:cNvSpPr>
          <p:nvPr/>
        </p:nvSpPr>
        <p:spPr>
          <a:xfrm rot="0">
            <a:off x="6949440" y="4187952"/>
            <a:ext cx="1737360" cy="256031"/>
          </a:xfrm>
          <a:prstGeom prst="roundRect">
            <a:avLst>
              <a:gd name="adj" fmla="val 21430"/>
            </a:avLst>
          </a:prstGeom>
          <a:solidFill>
            <a:schemeClr val="bg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forwardStack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6" name="Rounded rectangle"/>
          <p:cNvSpPr>
            <a:spLocks/>
          </p:cNvSpPr>
          <p:nvPr/>
        </p:nvSpPr>
        <p:spPr>
          <a:xfrm rot="0">
            <a:off x="5120640" y="4480560"/>
            <a:ext cx="1737360" cy="256031"/>
          </a:xfrm>
          <a:prstGeom prst="roundRect">
            <a:avLst>
              <a:gd name="adj" fmla="val 21430"/>
            </a:avLst>
          </a:prstGeom>
          <a:solidFill>
            <a:schemeClr val="bg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current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7" name="Rounded rectangle"/>
          <p:cNvSpPr>
            <a:spLocks/>
          </p:cNvSpPr>
          <p:nvPr/>
        </p:nvSpPr>
        <p:spPr>
          <a:xfrm rot="0">
            <a:off x="6949440" y="4480560"/>
            <a:ext cx="1737360" cy="256031"/>
          </a:xfrm>
          <a:prstGeom prst="roundRect">
            <a:avLst>
              <a:gd name="adj" fmla="val 21430"/>
            </a:avLst>
          </a:prstGeom>
          <a:solidFill>
            <a:schemeClr val="bg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hasCurrent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98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18174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Stack Operations &amp; Code Tracing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03" name="Rectangle"/>
          <p:cNvSpPr>
            <a:spLocks/>
          </p:cNvSpPr>
          <p:nvPr/>
        </p:nvSpPr>
        <p:spPr>
          <a:xfrm rot="0">
            <a:off x="457200" y="1051560"/>
            <a:ext cx="3931920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SAMPLE NAVIGATION SEQUENCE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4" name="Oval"/>
          <p:cNvSpPr>
            <a:spLocks/>
          </p:cNvSpPr>
          <p:nvPr/>
        </p:nvSpPr>
        <p:spPr>
          <a:xfrm rot="0">
            <a:off x="457200" y="1472183"/>
            <a:ext cx="347472" cy="347472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5" name="Rectangle"/>
          <p:cNvSpPr>
            <a:spLocks/>
          </p:cNvSpPr>
          <p:nvPr/>
        </p:nvSpPr>
        <p:spPr>
          <a:xfrm rot="0">
            <a:off x="960120" y="1417320"/>
            <a:ext cx="352044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Visit google.com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Current = google.com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6" name="Oval"/>
          <p:cNvSpPr>
            <a:spLocks/>
          </p:cNvSpPr>
          <p:nvPr/>
        </p:nvSpPr>
        <p:spPr>
          <a:xfrm rot="0">
            <a:off x="457200" y="2112264"/>
            <a:ext cx="347472" cy="347471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7" name="Rectangle"/>
          <p:cNvSpPr>
            <a:spLocks/>
          </p:cNvSpPr>
          <p:nvPr/>
        </p:nvSpPr>
        <p:spPr>
          <a:xfrm rot="0">
            <a:off x="960120" y="2057400"/>
            <a:ext cx="3520440" cy="5029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Visit openai.com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Back = [google.com]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8" name="Oval"/>
          <p:cNvSpPr>
            <a:spLocks/>
          </p:cNvSpPr>
          <p:nvPr/>
        </p:nvSpPr>
        <p:spPr>
          <a:xfrm rot="0">
            <a:off x="457200" y="2752344"/>
            <a:ext cx="347472" cy="347472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09" name="Rectangle"/>
          <p:cNvSpPr>
            <a:spLocks/>
          </p:cNvSpPr>
          <p:nvPr/>
        </p:nvSpPr>
        <p:spPr>
          <a:xfrm rot="0">
            <a:off x="960120" y="2697480"/>
            <a:ext cx="35204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Visit github.com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Back = [openai.com, google.com]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0" name="Oval"/>
          <p:cNvSpPr>
            <a:spLocks/>
          </p:cNvSpPr>
          <p:nvPr/>
        </p:nvSpPr>
        <p:spPr>
          <a:xfrm rot="0">
            <a:off x="457200" y="3392424"/>
            <a:ext cx="347472" cy="347472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1" name="Rectangle"/>
          <p:cNvSpPr>
            <a:spLocks/>
          </p:cNvSpPr>
          <p:nvPr/>
        </p:nvSpPr>
        <p:spPr>
          <a:xfrm rot="0">
            <a:off x="960120" y="3337560"/>
            <a:ext cx="35204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Back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Current = openai.com; Forward = [github.com]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2" name="Oval"/>
          <p:cNvSpPr>
            <a:spLocks/>
          </p:cNvSpPr>
          <p:nvPr/>
        </p:nvSpPr>
        <p:spPr>
          <a:xfrm rot="0">
            <a:off x="457200" y="4032504"/>
            <a:ext cx="347472" cy="347472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3" name="Rectangle"/>
          <p:cNvSpPr>
            <a:spLocks/>
          </p:cNvSpPr>
          <p:nvPr/>
        </p:nvSpPr>
        <p:spPr>
          <a:xfrm rot="0">
            <a:off x="960120" y="3977640"/>
            <a:ext cx="3520440" cy="502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Forward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Current = github.com; Forward = []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4" name="Rectangle"/>
          <p:cNvSpPr>
            <a:spLocks/>
          </p:cNvSpPr>
          <p:nvPr/>
        </p:nvSpPr>
        <p:spPr>
          <a:xfrm rot="0">
            <a:off x="4663440" y="1051560"/>
            <a:ext cx="4023359" cy="2560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STACK STATE TRACE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graphicFrame>
        <p:nvGraphicFramePr>
          <p:cNvPr id="115" name="Sheet"/>
          <p:cNvGraphicFramePr>
            <a:graphicFrameLocks noGrp="1"/>
          </p:cNvGraphicFramePr>
          <p:nvPr>
            <p:extLst>
              <p:ext uri="{D42A27DB-BD31-4B8C-83A1-F6EECF244321}"/>
            </p:extLst>
          </p:nvPr>
        </p:nvGraphicFramePr>
        <p:xfrm>
          <a:off x="4663440" y="1417320"/>
          <a:ext cx="4023359" cy="91440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457187"/>
                <a:gridCol w="1783067"/>
                <a:gridCol w="914387"/>
                <a:gridCol w="868667"/>
              </a:tblGrid>
              <a:tr h="365754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chemeClr val="bg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Step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chemeClr val="bg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Back Stack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E8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chemeClr val="bg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Current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kern="1200" cap="none" spc="0" baseline="0">
                          <a:solidFill>
                            <a:schemeClr val="bg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Forward Stack</a:t>
                      </a:r>
                      <a:endParaRPr lang="zh-CN" altLang="en-US" sz="12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52E0"/>
                    </a:solidFill>
                  </a:tcPr>
                </a:tc>
              </a:tr>
              <a:tr h="420617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1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—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google.com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—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420617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2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google.com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openai.com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—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420617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3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openai.com → google.com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github.com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—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420617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4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google.com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openai.com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github.com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  <a:tr h="420617"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5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google.com → openai.com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1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github.com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b="0" i="0" u="none" strike="noStrike" kern="1200" cap="none" spc="0" baseline="0">
                          <a:solidFill>
                            <a:schemeClr val="tx1"/>
                          </a:solidFill>
                          <a:latin typeface="Calibri" pitchFamily="0" charset="0"/>
                          <a:ea typeface="等线" pitchFamily="0" charset="0"/>
                          <a:cs typeface="Calibri" pitchFamily="0" charset="0"/>
                        </a:rPr>
                        <a:t>—</a:t>
                      </a:r>
                      <a:endParaRPr lang="zh-CN" altLang="en-US" sz="1100" b="0" i="0" u="none" strike="noStrike" kern="1200" cap="none" spc="0" baseline="0">
                        <a:solidFill>
                          <a:schemeClr val="tx1"/>
                        </a:solidFill>
                        <a:latin typeface="Calibri" pitchFamily="0" charset="0"/>
                        <a:ea typeface="等线" pitchFamily="0" charset="0"/>
                        <a:cs typeface="Calibri" pitchFamily="0" charset="0"/>
                      </a:endParaRPr>
                    </a:p>
                  </a:txBody>
                  <a:tcPr marL="36576" marT="36576" marR="36576" marB="36576" vert="horz" anchor="ctr">
                    <a:lnL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</a:tr>
            </a:tbl>
          </a:graphicData>
        </a:graphic>
      </p:graphicFrame>
      <p:sp>
        <p:nvSpPr>
          <p:cNvPr id="116" name="Rectangle"/>
          <p:cNvSpPr>
            <a:spLocks/>
          </p:cNvSpPr>
          <p:nvPr/>
        </p:nvSpPr>
        <p:spPr>
          <a:xfrm rot="0">
            <a:off x="4663440" y="4114800"/>
            <a:ext cx="4023359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Stacks are read top → bottom (top of the stack is listed first).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17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21456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Key Code Mapping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22" name="Rounded rectangle"/>
          <p:cNvSpPr>
            <a:spLocks/>
          </p:cNvSpPr>
          <p:nvPr/>
        </p:nvSpPr>
        <p:spPr>
          <a:xfrm rot="0">
            <a:off x="457200" y="1097280"/>
            <a:ext cx="4023359" cy="1051559"/>
          </a:xfrm>
          <a:prstGeom prst="roundRect">
            <a:avLst>
              <a:gd name="adj" fmla="val 6958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123" name="Oval"/>
          <p:cNvSpPr>
            <a:spLocks/>
          </p:cNvSpPr>
          <p:nvPr/>
        </p:nvSpPr>
        <p:spPr>
          <a:xfrm rot="0">
            <a:off x="640080" y="1399032"/>
            <a:ext cx="457200" cy="457200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4" name="Rectangle"/>
          <p:cNvSpPr>
            <a:spLocks/>
          </p:cNvSpPr>
          <p:nvPr/>
        </p:nvSpPr>
        <p:spPr>
          <a:xfrm rot="0">
            <a:off x="1280160" y="1170432"/>
            <a:ext cx="310896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push()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Creates a new Node and places it at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stack-&gt;top.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5" name="Rounded rectangle"/>
          <p:cNvSpPr>
            <a:spLocks/>
          </p:cNvSpPr>
          <p:nvPr/>
        </p:nvSpPr>
        <p:spPr>
          <a:xfrm rot="0">
            <a:off x="4663440" y="1097280"/>
            <a:ext cx="4023359" cy="1051559"/>
          </a:xfrm>
          <a:prstGeom prst="roundRect">
            <a:avLst>
              <a:gd name="adj" fmla="val 6958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126" name="Oval"/>
          <p:cNvSpPr>
            <a:spLocks/>
          </p:cNvSpPr>
          <p:nvPr/>
        </p:nvSpPr>
        <p:spPr>
          <a:xfrm rot="0">
            <a:off x="4846320" y="1399032"/>
            <a:ext cx="457199" cy="457200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2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7" name="Rectangle"/>
          <p:cNvSpPr>
            <a:spLocks/>
          </p:cNvSpPr>
          <p:nvPr/>
        </p:nvSpPr>
        <p:spPr>
          <a:xfrm rot="0">
            <a:off x="5486400" y="1170432"/>
            <a:ext cx="310896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pop()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Removes the top Node, copies its URL, then frees memory.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28" name="Rounded rectangle"/>
          <p:cNvSpPr>
            <a:spLocks/>
          </p:cNvSpPr>
          <p:nvPr/>
        </p:nvSpPr>
        <p:spPr>
          <a:xfrm rot="0">
            <a:off x="457200" y="2286000"/>
            <a:ext cx="4023359" cy="1051559"/>
          </a:xfrm>
          <a:prstGeom prst="roundRect">
            <a:avLst>
              <a:gd name="adj" fmla="val 6958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129" name="Oval"/>
          <p:cNvSpPr>
            <a:spLocks/>
          </p:cNvSpPr>
          <p:nvPr/>
        </p:nvSpPr>
        <p:spPr>
          <a:xfrm rot="0">
            <a:off x="640080" y="2587752"/>
            <a:ext cx="457200" cy="457200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3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0" name="Rectangle"/>
          <p:cNvSpPr>
            <a:spLocks/>
          </p:cNvSpPr>
          <p:nvPr/>
        </p:nvSpPr>
        <p:spPr>
          <a:xfrm rot="0">
            <a:off x="1280160" y="2359152"/>
            <a:ext cx="310896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visitPage()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Pushes current to Back, changes current, clears Forward.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1" name="Rounded rectangle"/>
          <p:cNvSpPr>
            <a:spLocks/>
          </p:cNvSpPr>
          <p:nvPr/>
        </p:nvSpPr>
        <p:spPr>
          <a:xfrm rot="0">
            <a:off x="4663440" y="2286000"/>
            <a:ext cx="4023359" cy="1051559"/>
          </a:xfrm>
          <a:prstGeom prst="roundRect">
            <a:avLst>
              <a:gd name="adj" fmla="val 6958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132" name="Oval"/>
          <p:cNvSpPr>
            <a:spLocks/>
          </p:cNvSpPr>
          <p:nvPr/>
        </p:nvSpPr>
        <p:spPr>
          <a:xfrm rot="0">
            <a:off x="4846320" y="2587752"/>
            <a:ext cx="457199" cy="457200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4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3" name="Rectangle"/>
          <p:cNvSpPr>
            <a:spLocks/>
          </p:cNvSpPr>
          <p:nvPr/>
        </p:nvSpPr>
        <p:spPr>
          <a:xfrm rot="0">
            <a:off x="5486400" y="2359152"/>
            <a:ext cx="310896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goBack()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Pushes current to Forward, then pops Back into current.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4" name="Rounded rectangle"/>
          <p:cNvSpPr>
            <a:spLocks/>
          </p:cNvSpPr>
          <p:nvPr/>
        </p:nvSpPr>
        <p:spPr>
          <a:xfrm rot="0">
            <a:off x="457200" y="3474720"/>
            <a:ext cx="4023359" cy="1051559"/>
          </a:xfrm>
          <a:prstGeom prst="roundRect">
            <a:avLst>
              <a:gd name="adj" fmla="val 6958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135" name="Oval"/>
          <p:cNvSpPr>
            <a:spLocks/>
          </p:cNvSpPr>
          <p:nvPr/>
        </p:nvSpPr>
        <p:spPr>
          <a:xfrm rot="0">
            <a:off x="640080" y="3776471"/>
            <a:ext cx="457200" cy="457200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5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6" name="Rectangle"/>
          <p:cNvSpPr>
            <a:spLocks/>
          </p:cNvSpPr>
          <p:nvPr/>
        </p:nvSpPr>
        <p:spPr>
          <a:xfrm rot="0">
            <a:off x="1280160" y="3547872"/>
            <a:ext cx="310896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goForward()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Pushes current to Back, then pops Forward into current.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7" name="Rounded rectangle"/>
          <p:cNvSpPr>
            <a:spLocks/>
          </p:cNvSpPr>
          <p:nvPr/>
        </p:nvSpPr>
        <p:spPr>
          <a:xfrm rot="0">
            <a:off x="4663440" y="3474720"/>
            <a:ext cx="4023359" cy="1051559"/>
          </a:xfrm>
          <a:prstGeom prst="roundRect">
            <a:avLst>
              <a:gd name="adj" fmla="val 6958"/>
            </a:avLst>
          </a:prstGeom>
          <a:solidFill>
            <a:schemeClr val="bg2"/>
          </a:solidFill>
          <a:ln w="12700" cmpd="sng" cap="flat">
            <a:solidFill>
              <a:srgbClr val="F1F3F8"/>
            </a:solidFill>
            <a:prstDash val="solid"/>
            <a:round/>
          </a:ln>
        </p:spPr>
      </p:sp>
      <p:sp>
        <p:nvSpPr>
          <p:cNvPr id="138" name="Oval"/>
          <p:cNvSpPr>
            <a:spLocks/>
          </p:cNvSpPr>
          <p:nvPr/>
        </p:nvSpPr>
        <p:spPr>
          <a:xfrm rot="0">
            <a:off x="4846320" y="3776471"/>
            <a:ext cx="457199" cy="457200"/>
          </a:xfrm>
          <a:prstGeom prst="ellipse"/>
          <a:solidFill>
            <a:schemeClr val="tx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39" name="Rectangle"/>
          <p:cNvSpPr>
            <a:spLocks/>
          </p:cNvSpPr>
          <p:nvPr/>
        </p:nvSpPr>
        <p:spPr>
          <a:xfrm rot="0">
            <a:off x="5486400" y="3547872"/>
            <a:ext cx="3108960" cy="9144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clearStack()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Repeatedly pops nodes until the stack becomes empty.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0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6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88892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Program Output (1 of 4)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45" name="Rectangle"/>
          <p:cNvSpPr>
            <a:spLocks/>
          </p:cNvSpPr>
          <p:nvPr/>
        </p:nvSpPr>
        <p:spPr>
          <a:xfrm rot="0">
            <a:off x="457200" y="868680"/>
            <a:ext cx="82296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Cases: empty state (Show current, Back, Forward, Show history), invalid menu number, non-numeric input, Exit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Typed input is shown in yellow. The menu is reprinted before every choice; it is shown in full once, then abbreviated.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6" name="Rounded rectangle"/>
          <p:cNvSpPr>
            <a:spLocks/>
          </p:cNvSpPr>
          <p:nvPr/>
        </p:nvSpPr>
        <p:spPr>
          <a:xfrm rot="0">
            <a:off x="457200" y="1371600"/>
            <a:ext cx="4023359" cy="3364992"/>
          </a:xfrm>
          <a:prstGeom prst="roundRect">
            <a:avLst>
              <a:gd name="adj" fmla="val 1629"/>
            </a:avLst>
          </a:prstGeom>
          <a:solidFill>
            <a:schemeClr val="tx1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47" name="Rectangle"/>
          <p:cNvSpPr>
            <a:spLocks/>
          </p:cNvSpPr>
          <p:nvPr/>
        </p:nvSpPr>
        <p:spPr>
          <a:xfrm rot="0">
            <a:off x="548640" y="1435608"/>
            <a:ext cx="3840479" cy="3236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===== Browser History Manager =====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1. Visit new page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2. Back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3. Forward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4. Show current page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5. Show full history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6. Clear history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0. Exit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4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No page is open yet.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2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No previous page to go back to.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3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No forward page available.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48" name="Rounded rectangle"/>
          <p:cNvSpPr>
            <a:spLocks/>
          </p:cNvSpPr>
          <p:nvPr/>
        </p:nvSpPr>
        <p:spPr>
          <a:xfrm rot="0">
            <a:off x="4663440" y="1371600"/>
            <a:ext cx="4023359" cy="3364992"/>
          </a:xfrm>
          <a:prstGeom prst="roundRect">
            <a:avLst>
              <a:gd name="adj" fmla="val 1629"/>
            </a:avLst>
          </a:prstGeom>
          <a:solidFill>
            <a:schemeClr val="tx1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49" name="Rectangle"/>
          <p:cNvSpPr>
            <a:spLocks/>
          </p:cNvSpPr>
          <p:nvPr/>
        </p:nvSpPr>
        <p:spPr>
          <a:xfrm rot="0">
            <a:off x="4754880" y="1435608"/>
            <a:ext cx="3840480" cy="3236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5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 Browsing History ----------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Back pages, most recent first [0]: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(none)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Current page: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(none)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Forward pages, next page first [0]: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(none)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--------------------------------------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9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Invalid choice. Please try again.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abc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Invalid input. Please enter a number.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0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Exiting program.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0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7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182396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Program Output (2 of 4)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55" name="Rectangle"/>
          <p:cNvSpPr>
            <a:spLocks/>
          </p:cNvSpPr>
          <p:nvPr/>
        </p:nvSpPr>
        <p:spPr>
          <a:xfrm rot="0">
            <a:off x="457200" y="868680"/>
            <a:ext cx="82296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Cases: Visit ×3, Show current, Back, Show history (Back and Forward both filled), Forward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Typed input is shown in yellow. The menu is reprinted before every choice; it is shown in full once, then abbreviated.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6" name="Rounded rectangle"/>
          <p:cNvSpPr>
            <a:spLocks/>
          </p:cNvSpPr>
          <p:nvPr/>
        </p:nvSpPr>
        <p:spPr>
          <a:xfrm rot="0">
            <a:off x="457200" y="1371600"/>
            <a:ext cx="4023359" cy="3364992"/>
          </a:xfrm>
          <a:prstGeom prst="roundRect">
            <a:avLst>
              <a:gd name="adj" fmla="val 1629"/>
            </a:avLst>
          </a:prstGeom>
          <a:solidFill>
            <a:schemeClr val="tx1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57" name="Rectangle"/>
          <p:cNvSpPr>
            <a:spLocks/>
          </p:cNvSpPr>
          <p:nvPr/>
        </p:nvSpPr>
        <p:spPr>
          <a:xfrm rot="0">
            <a:off x="548640" y="1435608"/>
            <a:ext cx="3840479" cy="3236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===== Browser History Manager =====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1. Visit new page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2. Back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3. Forward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4. Show current page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5. Show full history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6. Clear history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0. Exit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URL: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google.com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Visited: google.com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URL: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openai.com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Visited: openai.com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URL: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github.com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Visited: github.com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58" name="Rounded rectangle"/>
          <p:cNvSpPr>
            <a:spLocks/>
          </p:cNvSpPr>
          <p:nvPr/>
        </p:nvSpPr>
        <p:spPr>
          <a:xfrm rot="0">
            <a:off x="4663440" y="1371600"/>
            <a:ext cx="4023359" cy="3364992"/>
          </a:xfrm>
          <a:prstGeom prst="roundRect">
            <a:avLst>
              <a:gd name="adj" fmla="val 1629"/>
            </a:avLst>
          </a:prstGeom>
          <a:solidFill>
            <a:schemeClr val="tx1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59" name="Rectangle"/>
          <p:cNvSpPr>
            <a:spLocks/>
          </p:cNvSpPr>
          <p:nvPr/>
        </p:nvSpPr>
        <p:spPr>
          <a:xfrm rot="0">
            <a:off x="4754880" y="1435608"/>
            <a:ext cx="3840480" cy="3236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4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Current page: github.com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2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Went back to: openai.com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5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 Browsing History ----------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Back pages, most recent first [1]: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1. google.com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Current page: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openai.com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Forward pages, next page first [1]: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1. github.com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--------------------------------------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3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Went forward to: github.com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0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8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118893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Program Output (3 of 4)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65" name="Rectangle"/>
          <p:cNvSpPr>
            <a:spLocks/>
          </p:cNvSpPr>
          <p:nvPr/>
        </p:nvSpPr>
        <p:spPr>
          <a:xfrm rot="0">
            <a:off x="457200" y="868680"/>
            <a:ext cx="82296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Cases: Back to the first page, Back with nothing left, Visit clears Forward history, Forward unavailable, Show history, Exit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Typed input is shown in yellow. The menu is reprinted before every choice; it is shown in full once, then abbreviated.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6" name="Rounded rectangle"/>
          <p:cNvSpPr>
            <a:spLocks/>
          </p:cNvSpPr>
          <p:nvPr/>
        </p:nvSpPr>
        <p:spPr>
          <a:xfrm rot="0">
            <a:off x="457200" y="1371600"/>
            <a:ext cx="4023359" cy="3364992"/>
          </a:xfrm>
          <a:prstGeom prst="roundRect">
            <a:avLst>
              <a:gd name="adj" fmla="val 1629"/>
            </a:avLst>
          </a:prstGeom>
          <a:solidFill>
            <a:schemeClr val="tx1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67" name="Rectangle"/>
          <p:cNvSpPr>
            <a:spLocks/>
          </p:cNvSpPr>
          <p:nvPr/>
        </p:nvSpPr>
        <p:spPr>
          <a:xfrm rot="0">
            <a:off x="548640" y="1435608"/>
            <a:ext cx="3840479" cy="3236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2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Went back to: openai.com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2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Went back to: google.com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2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No previous page to go back to.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5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 Browsing History ----------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Back pages, most recent first [0]: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(none)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Current page: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google.com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Forward pages, next page first [2]: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1. openai.com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2. github.com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--------------------------------------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68" name="Rounded rectangle"/>
          <p:cNvSpPr>
            <a:spLocks/>
          </p:cNvSpPr>
          <p:nvPr/>
        </p:nvSpPr>
        <p:spPr>
          <a:xfrm rot="0">
            <a:off x="4663440" y="1371600"/>
            <a:ext cx="4023359" cy="3364992"/>
          </a:xfrm>
          <a:prstGeom prst="roundRect">
            <a:avLst>
              <a:gd name="adj" fmla="val 1629"/>
            </a:avLst>
          </a:prstGeom>
          <a:solidFill>
            <a:schemeClr val="tx1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69" name="Rectangle"/>
          <p:cNvSpPr>
            <a:spLocks/>
          </p:cNvSpPr>
          <p:nvPr/>
        </p:nvSpPr>
        <p:spPr>
          <a:xfrm rot="0">
            <a:off x="4754880" y="1435608"/>
            <a:ext cx="3840480" cy="3236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URL: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youtube.com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Visited: youtube.com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3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No forward page available.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5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 Browsing History ----------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Back pages, most recent first [1]: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1. google.com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Current page: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youtube.com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Forward pages, next page first [0]: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(none)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--------------------------------------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0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Exiting program.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0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9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599960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Program Output (4 of 4)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75" name="Rectangle"/>
          <p:cNvSpPr>
            <a:spLocks/>
          </p:cNvSpPr>
          <p:nvPr/>
        </p:nvSpPr>
        <p:spPr>
          <a:xfrm rot="0">
            <a:off x="457200" y="868680"/>
            <a:ext cx="82296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Cases: empty URL rejected, URL over 99 characters rejected, Show history, Clear history, Show current after clearing, Exit</a:t>
            </a:r>
            <a:endParaRPr lang="en-US" altLang="zh-CN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Typed input is shown in yellow. The menu is reprinted before every choice; it is shown in full once, then abbreviated.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6" name="Rounded rectangle"/>
          <p:cNvSpPr>
            <a:spLocks/>
          </p:cNvSpPr>
          <p:nvPr/>
        </p:nvSpPr>
        <p:spPr>
          <a:xfrm rot="0">
            <a:off x="457200" y="1371600"/>
            <a:ext cx="4023359" cy="3364992"/>
          </a:xfrm>
          <a:prstGeom prst="roundRect">
            <a:avLst>
              <a:gd name="adj" fmla="val 1629"/>
            </a:avLst>
          </a:prstGeom>
          <a:solidFill>
            <a:schemeClr val="tx1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77" name="Rectangle"/>
          <p:cNvSpPr>
            <a:spLocks/>
          </p:cNvSpPr>
          <p:nvPr/>
        </p:nvSpPr>
        <p:spPr>
          <a:xfrm rot="0">
            <a:off x="548640" y="1435608"/>
            <a:ext cx="3840479" cy="3236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===== Browser History Manager =====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1. Visit new page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2. Back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3. Forward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4. Show current page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5. Show full history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6. Clear history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0. Exit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URL: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URL cannot be empty.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URL: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facebook.com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Visited: facebook.com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1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URL: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aaaaaaaaaaaaaaaaaaaa... (120 chars)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URL is too long. Maximum length is 99 characters.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URL: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wikipedia.org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Visited: wikipedia.org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78" name="Rounded rectangle"/>
          <p:cNvSpPr>
            <a:spLocks/>
          </p:cNvSpPr>
          <p:nvPr/>
        </p:nvSpPr>
        <p:spPr>
          <a:xfrm rot="0">
            <a:off x="4663440" y="1371600"/>
            <a:ext cx="4023359" cy="3364992"/>
          </a:xfrm>
          <a:prstGeom prst="roundRect">
            <a:avLst>
              <a:gd name="adj" fmla="val 1629"/>
            </a:avLst>
          </a:prstGeom>
          <a:solidFill>
            <a:schemeClr val="tx1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79" name="Rectangle"/>
          <p:cNvSpPr>
            <a:spLocks/>
          </p:cNvSpPr>
          <p:nvPr/>
        </p:nvSpPr>
        <p:spPr>
          <a:xfrm rot="0">
            <a:off x="4754880" y="1435608"/>
            <a:ext cx="3840480" cy="323697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5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 Browsing History ----------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Back pages, most recent first [1]: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1. facebook.com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Current page: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wikipedia.org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Forward pages, next page first [0]: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   (none)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--------------------------------------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6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History cleared.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4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No page is open yet.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accent6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[ menu shown again ]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Enter your choice: </a:t>
            </a:r>
            <a:r>
              <a:rPr lang="en-US" altLang="zh-CN" sz="1000" b="0" i="0" u="none" strike="noStrike" kern="1200" cap="none" spc="0" baseline="0">
                <a:solidFill>
                  <a:schemeClr val="accent4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0</a:t>
            </a:r>
            <a:endParaRPr lang="en-US" altLang="zh-CN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bg1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Exiting program.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0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10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81831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box"/>
          <p:cNvSpPr>
            <a:spLocks noGrp="1"/>
          </p:cNvSpPr>
          <p:nvPr>
            <p:ph type="title" idx="100"/>
          </p:nvPr>
        </p:nvSpPr>
        <p:spPr>
          <a:xfrm rot="0">
            <a:off x="457200" y="274320"/>
            <a:ext cx="8229600" cy="6400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tx1"/>
                </a:solidFill>
                <a:latin typeface="Cambria" pitchFamily="0" charset="0"/>
                <a:ea typeface="等线 Light" pitchFamily="0" charset="0"/>
                <a:cs typeface="Lucida Sans" pitchFamily="0" charset="0"/>
              </a:rPr>
              <a:t>Conclusion</a:t>
            </a:r>
            <a:endParaRPr lang="zh-CN" altLang="en-US" sz="2800" b="1" i="0" u="none" strike="noStrike" kern="1200" cap="none" spc="0" baseline="0">
              <a:solidFill>
                <a:schemeClr val="tx1"/>
              </a:solidFill>
              <a:latin typeface="Cambria" pitchFamily="0" charset="0"/>
              <a:ea typeface="等线 Light" pitchFamily="0" charset="0"/>
              <a:cs typeface="Lucida Sans" pitchFamily="0" charset="0"/>
            </a:endParaRPr>
          </a:p>
        </p:txBody>
      </p:sp>
      <p:sp>
        <p:nvSpPr>
          <p:cNvPr id="185" name="Rectangle"/>
          <p:cNvSpPr>
            <a:spLocks/>
          </p:cNvSpPr>
          <p:nvPr/>
        </p:nvSpPr>
        <p:spPr>
          <a:xfrm rot="0">
            <a:off x="457200" y="1097280"/>
            <a:ext cx="4754880" cy="34747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Two linked-list stacks model browser Back and Forward history.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Visit invalidates Forward history and stores the previous page.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Back and Forward each use push + pop to change the current page.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Dynamic allocation is released through clearStack().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Navigation operations are O(1); clearing a stack is O(n).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6" name="Rounded rectangle"/>
          <p:cNvSpPr>
            <a:spLocks/>
          </p:cNvSpPr>
          <p:nvPr/>
        </p:nvSpPr>
        <p:spPr>
          <a:xfrm rot="0">
            <a:off x="5486400" y="1097280"/>
            <a:ext cx="3200400" cy="3520440"/>
          </a:xfrm>
          <a:prstGeom prst="roundRect">
            <a:avLst>
              <a:gd name="adj" fmla="val 2287"/>
            </a:avLst>
          </a:prstGeom>
          <a:solidFill>
            <a:schemeClr val="tx2"/>
          </a:solidFill>
          <a:ln w="12700" cmpd="sng" cap="flat">
            <a:solidFill>
              <a:srgbClr val="1F2A44"/>
            </a:solidFill>
            <a:prstDash val="solid"/>
            <a:round/>
          </a:ln>
        </p:spPr>
      </p:sp>
      <p:sp>
        <p:nvSpPr>
          <p:cNvPr id="187" name="Rectangle"/>
          <p:cNvSpPr>
            <a:spLocks/>
          </p:cNvSpPr>
          <p:nvPr/>
        </p:nvSpPr>
        <p:spPr>
          <a:xfrm rot="0">
            <a:off x="5715000" y="1234440"/>
            <a:ext cx="2743200" cy="2560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150" baseline="0">
                <a:solidFill>
                  <a:schemeClr val="accent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DSA TAKEAWAY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8" name="Rectangle"/>
          <p:cNvSpPr>
            <a:spLocks/>
          </p:cNvSpPr>
          <p:nvPr/>
        </p:nvSpPr>
        <p:spPr>
          <a:xfrm rot="0">
            <a:off x="5715000" y="1554480"/>
            <a:ext cx="2743200" cy="16459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The project demonstrates a practical use of the LIFO principle: the most recently visited page is the first page available to move back from.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89" name="Rounded rectangle"/>
          <p:cNvSpPr>
            <a:spLocks/>
          </p:cNvSpPr>
          <p:nvPr/>
        </p:nvSpPr>
        <p:spPr>
          <a:xfrm rot="0">
            <a:off x="5715000" y="3291840"/>
            <a:ext cx="1920240" cy="292607"/>
          </a:xfrm>
          <a:prstGeom prst="roundRect">
            <a:avLst>
              <a:gd name="adj" fmla="val 18750"/>
            </a:avLst>
          </a:prstGeom>
          <a:solidFill>
            <a:schemeClr val="accent3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github.com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0" name="Rectangle"/>
          <p:cNvSpPr>
            <a:spLocks/>
          </p:cNvSpPr>
          <p:nvPr/>
        </p:nvSpPr>
        <p:spPr>
          <a:xfrm rot="0">
            <a:off x="7726680" y="3291840"/>
            <a:ext cx="868679" cy="2926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1200" cap="none" spc="0" baseline="0">
                <a:solidFill>
                  <a:schemeClr val="accent4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← first out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1" name="Rounded rectangle"/>
          <p:cNvSpPr>
            <a:spLocks/>
          </p:cNvSpPr>
          <p:nvPr/>
        </p:nvSpPr>
        <p:spPr>
          <a:xfrm rot="0">
            <a:off x="5715000" y="3657600"/>
            <a:ext cx="1920240" cy="292607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openai.com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2" name="Rounded rectangle"/>
          <p:cNvSpPr>
            <a:spLocks/>
          </p:cNvSpPr>
          <p:nvPr/>
        </p:nvSpPr>
        <p:spPr>
          <a:xfrm rot="0">
            <a:off x="5715000" y="4023359"/>
            <a:ext cx="1920240" cy="292607"/>
          </a:xfrm>
          <a:prstGeom prst="roundRect">
            <a:avLst>
              <a:gd name="adj" fmla="val 18750"/>
            </a:avLst>
          </a:prstGeom>
          <a:solidFill>
            <a:schemeClr val="accent2"/>
          </a:solidFill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google.com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3" name="Rectangle"/>
          <p:cNvSpPr>
            <a:spLocks noGrp="1"/>
          </p:cNvSpPr>
          <p:nvPr>
            <p:ph type="sldNum"/>
          </p:nvPr>
        </p:nvSpPr>
        <p:spPr>
          <a:xfrm rot="0">
            <a:off x="8229600" y="4846320"/>
            <a:ext cx="457200" cy="228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2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11</a:t>
            </a:fld>
            <a:endParaRPr lang="zh-CN" altLang="en-US" sz="1000" b="0" i="0" u="none" strike="noStrike" kern="1200" cap="none" spc="0" baseline="0">
              <a:solidFill>
                <a:schemeClr val="tx2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30450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"/>
          <p:cNvSpPr>
            <a:spLocks/>
          </p:cNvSpPr>
          <p:nvPr/>
        </p:nvSpPr>
        <p:spPr>
          <a:xfrm rot="0">
            <a:off x="457200" y="1325880"/>
            <a:ext cx="8229600" cy="10972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1" i="0" u="none" strike="noStrike" kern="1200" cap="none" spc="0" baseline="0">
                <a:solidFill>
                  <a:schemeClr val="bg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Thank You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  <p:sp>
        <p:nvSpPr>
          <p:cNvPr id="199" name="Rectangle"/>
          <p:cNvSpPr>
            <a:spLocks/>
          </p:cNvSpPr>
          <p:nvPr/>
        </p:nvSpPr>
        <p:spPr>
          <a:xfrm rot="0">
            <a:off x="457200" y="2514600"/>
            <a:ext cx="8229600" cy="548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chemeClr val="accent1"/>
                </a:solidFill>
                <a:latin typeface="Calibri" pitchFamily="0" charset="0"/>
                <a:ea typeface="等线" pitchFamily="0" charset="0"/>
                <a:cs typeface="Calibri" pitchFamily="0" charset="0"/>
              </a:rPr>
              <a:t>From Team 10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等线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7339"/>
      </p:ext>
    </p:extLst>
  </p:cSld>
  <p:clrMapOvr>
    <a:masterClrMapping/>
  </p:clrMapOvr>
</p:sld>
</file>

<file path=ppt/theme/theme1.xml><?xml version="1.0" encoding="utf-8"?>
<a:theme xmlns:a="http://schemas.openxmlformats.org/drawingml/2006/main" name="Two Stacks">
  <a:themeElements>
    <a:clrScheme name="Two Stacks">
      <a:dk1>
        <a:srgbClr val="111827"/>
      </a:dk1>
      <a:lt1>
        <a:srgbClr val="FFFFFF"/>
      </a:lt1>
      <a:dk2>
        <a:srgbClr val="1F2A44"/>
      </a:dk2>
      <a:lt2>
        <a:srgbClr val="F1F3F8"/>
      </a:lt2>
      <a:accent1>
        <a:srgbClr val="F59E0B"/>
      </a:accent1>
      <a:accent2>
        <a:srgbClr val="0E8A80"/>
      </a:accent2>
      <a:accent3>
        <a:srgbClr val="5B52E0"/>
      </a:accent3>
      <a:accent4>
        <a:srgbClr val="FFD166"/>
      </a:accent4>
      <a:accent5>
        <a:srgbClr val="E5484D"/>
      </a:accent5>
      <a:accent6>
        <a:srgbClr val="7B8498"/>
      </a:accent6>
      <a:hlink>
        <a:srgbClr val="5B52E0"/>
      </a:hlink>
      <a:folHlink>
        <a:srgbClr val="7B8498"/>
      </a:folHlink>
    </a:clrScheme>
    <a:fontScheme name="Two Stacks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Two Stacks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111827"/>
      </a:dk1>
      <a:lt1>
        <a:srgbClr val="FFFFFF"/>
      </a:lt1>
      <a:dk2>
        <a:srgbClr val="1F2A44"/>
      </a:dk2>
      <a:lt2>
        <a:srgbClr val="F1F3F8"/>
      </a:lt2>
      <a:accent1>
        <a:srgbClr val="F59E0B"/>
      </a:accent1>
      <a:accent2>
        <a:srgbClr val="0E8A80"/>
      </a:accent2>
      <a:accent3>
        <a:srgbClr val="5B52E0"/>
      </a:accent3>
      <a:accent4>
        <a:srgbClr val="FFD166"/>
      </a:accent4>
      <a:accent5>
        <a:srgbClr val="E5484D"/>
      </a:accent5>
      <a:accent6>
        <a:srgbClr val="7B8498"/>
      </a:accent6>
      <a:hlink>
        <a:srgbClr val="5B52E0"/>
      </a:hlink>
      <a:folHlink>
        <a:srgbClr val="7B8498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Office</Applicat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Browser History Management Using Two Stacks</dc:title>
  <dc:subject>PptxGenJS Presentation</dc:subject>
  <dc:creator>Team 10</dc:creator>
  <cp:lastModifiedBy>Mobile phone user</cp:lastModifiedBy>
  <cp:revision>1</cp:revision>
  <dcterms:created xsi:type="dcterms:W3CDTF">2026-10-09T04:52:22Z</dcterms:created>
  <dcterms:modified xsi:type="dcterms:W3CDTF">2026-10-09T02:29:45Z</dcterms:modified>
</cp:coreProperties>
</file>